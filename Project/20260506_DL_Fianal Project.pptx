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9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0E0E"/>
    <a:srgbClr val="0000FF"/>
    <a:srgbClr val="19E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66" d="100"/>
          <a:sy n="66" d="100"/>
        </p:scale>
        <p:origin x="2232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03B89-EB28-424E-8618-EFA105C3023E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C0714-5D18-4CBB-8FA7-3D4B2569C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31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C0714-5D18-4CBB-8FA7-3D4B2569C1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60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1459-570C-7A4D-9A3A-E6C51495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88A58-A0D3-2E6D-5745-9DF515762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C0D88-8A63-D730-52C8-40B4C355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1D993-D47A-A235-B446-6B6DA190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495D5-E811-37F4-49CF-D539261F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3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2544-01F5-2C0C-E1CE-BC3636E0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34364-AFE0-E04E-870A-DCEE88CC5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5DF97-81B3-9BA5-ABFF-B2F4340B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D674B-7F96-BF6B-FB13-ACD4839C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D1CA7-B9C0-887B-A0B5-71855F28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2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D992-F191-7755-A7F4-13F171EE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E110C-5A8E-4F1D-2A80-1971E0490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12E4D-0360-7BE8-A4B0-BF098F9B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5CFC3-D5FB-8F0C-EA8C-CFA9D3C29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F70B0-2031-DA9D-63C7-823FA03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ACBF-7501-76C4-72D5-A075BB8E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FA5F1-D21E-D4FA-BD93-682652CA7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3C227-3A30-06CE-5875-F247E375B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92BEF-79DE-0161-82C9-C0550714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EEBDA-CA51-C44B-45DD-AC3CB0B7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A2EBB-0034-8CB8-739F-940D5C3C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7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E619-4A41-3B97-81D3-9942EAE7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BBCDE-DA79-CEB9-C6C8-A73DF40E7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85A8B-67F1-7850-A462-CD57E91EB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80DF7-D406-2252-E544-020E733C6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A95FC-2779-7C2F-D96A-6890A7E08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6B2A9-081A-109A-6A98-99F122DD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E83EE-4479-2D9D-48FC-FEA51C94C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3DE55-1C86-36EB-A5EF-0828545B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1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9FB9-234C-9D81-3D3A-A15B5FA5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546F4F-E9C1-BA13-C4DE-7456CFC2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6D954-1C5C-A6BC-DECC-FA87E8D5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75983-18BA-6611-FA07-4C91B8CE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BB48E-ED84-FA2F-6D51-B36D4886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27D33-C702-3E5B-49C2-53B55DDD2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556DF-9472-FE98-BE1F-2288339C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6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9A93-61E3-9354-ED65-6D6FEB48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A5CE-2063-D6F2-5ED1-1253D30F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90282-1DF2-178C-B5A8-273040D34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E2A4-4126-8C99-AADF-5602CBBE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A9661-8902-7473-3A5F-61F1EA87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C5B90-4A27-39D1-DFAA-9A7673A4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9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2FD4-CDCB-A856-532A-68DA86B9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F634D-1F0E-1F7A-6E6C-AF2C5FD04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538F3-5FA8-9044-ABF6-4216C3234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5CDA2-9CD2-C928-59D8-05DE4EEF6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42546-9971-4E70-989A-49172EF8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ADDC-EB40-7384-2EA5-7A0E9A6F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7172-91EE-17AF-9C06-214E96D16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FCED4-5F25-9657-4DEF-EDFB81BA1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5C772-C7A2-FE3F-7317-D6B5A8F2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25D1A-270B-15BF-3AB0-01F0B1E9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AFA2F-541B-5629-6246-1DDF2CD1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0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34B88-28E0-7E2A-8366-A9E85C834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D0DC-9975-1294-ABCB-D681A1AB4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9562B-72B8-CAEE-9BAD-83EFEAF9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93640-E218-AF2A-0D42-EB24784A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1A5A8-7DFF-A603-4506-9B420545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6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980B8-D559-838D-C913-F7C9C4176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67D02-B892-E8C6-3849-6E70E84C4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82426-FED3-5EC5-EC81-AA6382B58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56E5B-506A-46E2-A3E1-5A3C6C74FA2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ED595-7DD6-6B27-3537-F6C8D12DF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4910-645F-85B8-6753-F5B26FF80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DC686-71A1-466A-93EF-65470C91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B41053-3AA6-F6A6-6DC5-10BED2AA85A1}"/>
              </a:ext>
            </a:extLst>
          </p:cNvPr>
          <p:cNvSpPr txBox="1">
            <a:spLocks/>
          </p:cNvSpPr>
          <p:nvPr/>
        </p:nvSpPr>
        <p:spPr>
          <a:xfrm>
            <a:off x="182880" y="783792"/>
            <a:ext cx="11521440" cy="51681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Ultra-Low-Power Edge Hemodynamic Monitoring</a:t>
            </a:r>
          </a:p>
          <a:p>
            <a:endParaRPr lang="en-US" sz="1800" b="1" dirty="0"/>
          </a:p>
          <a:p>
            <a:r>
              <a:rPr lang="en-US" sz="3200" dirty="0"/>
              <a:t>A Denoising Autoencoder and 1D-CNN Pipeline for Real-Time BCI</a:t>
            </a:r>
            <a:br>
              <a:rPr lang="en-US" sz="3200" b="1" dirty="0"/>
            </a:br>
            <a:endParaRPr lang="en-US" sz="3200" b="1" dirty="0"/>
          </a:p>
          <a:p>
            <a:br>
              <a:rPr lang="en-US" sz="3200" b="1" dirty="0"/>
            </a:br>
            <a:r>
              <a:rPr lang="en-US" sz="2400" b="1" dirty="0"/>
              <a:t>Presenter:</a:t>
            </a:r>
            <a:r>
              <a:rPr lang="en-US" sz="2400" dirty="0"/>
              <a:t> Kaveh Ramezani</a:t>
            </a:r>
          </a:p>
          <a:p>
            <a:endParaRPr lang="en-US" sz="2400" dirty="0"/>
          </a:p>
          <a:p>
            <a:r>
              <a:rPr lang="en-US" sz="2400" dirty="0"/>
              <a:t>Deep Learning (Spring 2026)</a:t>
            </a:r>
          </a:p>
          <a:p>
            <a:endParaRPr lang="en-US" sz="2400" dirty="0"/>
          </a:p>
          <a:p>
            <a:r>
              <a:rPr lang="en-US" sz="2400" b="1" dirty="0"/>
              <a:t>Instructor: </a:t>
            </a:r>
            <a:r>
              <a:rPr lang="en-US" sz="2400" dirty="0"/>
              <a:t>Dr. Liang Dong</a:t>
            </a:r>
          </a:p>
        </p:txBody>
      </p:sp>
    </p:spTree>
    <p:extLst>
      <p:ext uri="{BB962C8B-B14F-4D97-AF65-F5344CB8AC3E}">
        <p14:creationId xmlns:p14="http://schemas.microsoft.com/office/powerpoint/2010/main" val="64242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A6E77A-8B7D-3C84-2095-8D9630D6E20D}"/>
              </a:ext>
            </a:extLst>
          </p:cNvPr>
          <p:cNvSpPr txBox="1"/>
          <p:nvPr/>
        </p:nvSpPr>
        <p:spPr>
          <a:xfrm>
            <a:off x="861614" y="1341318"/>
            <a:ext cx="5182188" cy="34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Introduction &amp; Motivation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endParaRPr lang="en-US" sz="32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Classifier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Denoising (Autoencoder)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To 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6D438-DE5E-A0D5-6902-C6C37EA83CCA}"/>
              </a:ext>
            </a:extLst>
          </p:cNvPr>
          <p:cNvSpPr txBox="1"/>
          <p:nvPr/>
        </p:nvSpPr>
        <p:spPr>
          <a:xfrm>
            <a:off x="389900" y="48312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4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FB9CCE-D01E-ABD5-5893-43ACA4EF4E4F}"/>
              </a:ext>
            </a:extLst>
          </p:cNvPr>
          <p:cNvSpPr txBox="1"/>
          <p:nvPr/>
        </p:nvSpPr>
        <p:spPr>
          <a:xfrm>
            <a:off x="389900" y="48312"/>
            <a:ext cx="5586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Introduction and Motivation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B4613-382F-743C-DEED-BC1F0CD8348C}"/>
              </a:ext>
            </a:extLst>
          </p:cNvPr>
          <p:cNvSpPr txBox="1"/>
          <p:nvPr/>
        </p:nvSpPr>
        <p:spPr>
          <a:xfrm>
            <a:off x="473528" y="997526"/>
            <a:ext cx="6937831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b="0" i="0" u="none" strike="noStrike" dirty="0">
                <a:effectLst/>
                <a:latin typeface="Aptos Display (Headings)"/>
              </a:rPr>
              <a:t>Cerebral monitoring is shifting from clinical labs to daily environments. </a:t>
            </a:r>
          </a:p>
          <a:p>
            <a:pPr rtl="0">
              <a:buNone/>
            </a:pPr>
            <a:endParaRPr lang="en-US" sz="2400" b="0" i="0" u="none" strike="noStrike" dirty="0">
              <a:effectLst/>
              <a:latin typeface="Aptos Display (Headings)"/>
            </a:endParaRPr>
          </a:p>
          <a:p>
            <a:pPr rtl="0">
              <a:buNone/>
            </a:pPr>
            <a:r>
              <a:rPr lang="en-US" sz="2400" b="0" i="0" u="none" strike="noStrike" dirty="0">
                <a:effectLst/>
                <a:latin typeface="Aptos Display (Headings)"/>
              </a:rPr>
              <a:t>Mobile BCI:</a:t>
            </a:r>
            <a:br>
              <a:rPr lang="en-US" b="0" dirty="0">
                <a:effectLst/>
                <a:latin typeface="Aptos Display (Headings)"/>
              </a:rPr>
            </a:br>
            <a:endParaRPr lang="en-US" b="0" dirty="0">
              <a:effectLst/>
              <a:latin typeface="Aptos Display (Headings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Mental Health Tracking:</a:t>
            </a:r>
            <a:r>
              <a:rPr lang="en-US" sz="2400" dirty="0">
                <a:latin typeface="Aptos Display (Headings)"/>
              </a:rPr>
              <a:t> Continuous stress and anxiety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effectLst/>
                <a:latin typeface="Aptos Display (Headings)"/>
              </a:rPr>
              <a:t>Neurofeedback:</a:t>
            </a:r>
            <a:r>
              <a:rPr lang="en-US" sz="2400" b="0" i="0" u="none" strike="noStrike" dirty="0">
                <a:effectLst/>
                <a:latin typeface="Aptos Display (Headings)"/>
              </a:rPr>
              <a:t> Enhancing focus through real-time hemodynamic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BCI Control:</a:t>
            </a:r>
            <a:r>
              <a:rPr lang="en-US" sz="2400" dirty="0">
                <a:latin typeface="Aptos Display (Headings)"/>
              </a:rPr>
              <a:t> Direct neural-to-digital interface for assistive technologies</a:t>
            </a:r>
            <a:r>
              <a:rPr lang="en-US" sz="2400" dirty="0">
                <a:solidFill>
                  <a:srgbClr val="334155"/>
                </a:solidFill>
                <a:latin typeface="Aptos Display (Headings)"/>
              </a:rPr>
              <a:t>.</a:t>
            </a:r>
            <a:endParaRPr lang="en-US" sz="2400" b="0" dirty="0">
              <a:effectLst/>
              <a:latin typeface="Aptos Display (Headings)"/>
            </a:endParaRPr>
          </a:p>
        </p:txBody>
      </p:sp>
      <p:pic>
        <p:nvPicPr>
          <p:cNvPr id="2" name="Picture 2" descr="Mendi brain training device review - The Gadgeteer">
            <a:extLst>
              <a:ext uri="{FF2B5EF4-FFF2-40B4-BE49-F238E27FC236}">
                <a16:creationId xmlns:a16="http://schemas.microsoft.com/office/drawing/2014/main" id="{D9D9C65D-C533-D44F-6257-8DAA7C5A0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361" y="4482619"/>
            <a:ext cx="3317484" cy="180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is headband lets you train your brain and keep you mentally in shape -  Yanko Design">
            <a:extLst>
              <a:ext uri="{FF2B5EF4-FFF2-40B4-BE49-F238E27FC236}">
                <a16:creationId xmlns:a16="http://schemas.microsoft.com/office/drawing/2014/main" id="{DA1B012C-8E07-17BD-6838-EECCD5A06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444" y="1202643"/>
            <a:ext cx="4718756" cy="314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4699A0-2B93-DCCE-3F35-2844A1DAE3F5}"/>
              </a:ext>
            </a:extLst>
          </p:cNvPr>
          <p:cNvSpPr txBox="1"/>
          <p:nvPr/>
        </p:nvSpPr>
        <p:spPr>
          <a:xfrm>
            <a:off x="11274255" y="429795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40723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ED18E7E-7D6A-DE63-FF2C-0C3659A59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852" y="1681842"/>
            <a:ext cx="4487682" cy="304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52DAE-311E-503B-BC15-90C3FC757177}"/>
              </a:ext>
            </a:extLst>
          </p:cNvPr>
          <p:cNvSpPr txBox="1"/>
          <p:nvPr/>
        </p:nvSpPr>
        <p:spPr>
          <a:xfrm>
            <a:off x="511629" y="133622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  <a:tabLst>
                <a:tab pos="688975" algn="l"/>
              </a:tabLst>
            </a:pPr>
            <a:r>
              <a:rPr lang="en-US" sz="2400" b="0" i="0" u="none" strike="noStrike" dirty="0">
                <a:effectLst/>
                <a:latin typeface="+mj-lt"/>
              </a:rPr>
              <a:t>HEG uses Near-Infrared light to measure the ratio of oxygenated to deoxygenated hemoglobin in specific brain regions.</a:t>
            </a:r>
            <a:endParaRPr lang="en-US" sz="2400" b="0" dirty="0">
              <a:effectLst/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12CC3-1B7E-C712-2CAF-7AC31958EF55}"/>
              </a:ext>
            </a:extLst>
          </p:cNvPr>
          <p:cNvSpPr txBox="1"/>
          <p:nvPr/>
        </p:nvSpPr>
        <p:spPr>
          <a:xfrm>
            <a:off x="9647209" y="5225921"/>
            <a:ext cx="2410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Generated By Google Gemini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801BB-2949-A607-0DE2-52ADFDA13D9C}"/>
              </a:ext>
            </a:extLst>
          </p:cNvPr>
          <p:cNvSpPr txBox="1"/>
          <p:nvPr/>
        </p:nvSpPr>
        <p:spPr>
          <a:xfrm>
            <a:off x="389900" y="48312"/>
            <a:ext cx="5586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Introduction and Motivation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ED9992-6460-8BCB-92FD-5D32BF82F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657699"/>
              </p:ext>
            </p:extLst>
          </p:nvPr>
        </p:nvGraphicFramePr>
        <p:xfrm>
          <a:off x="821700" y="3322435"/>
          <a:ext cx="537790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789">
                  <a:extLst>
                    <a:ext uri="{9D8B030D-6E8A-4147-A177-3AD203B41FA5}">
                      <a16:colId xmlns:a16="http://schemas.microsoft.com/office/drawing/2014/main" val="35361212"/>
                    </a:ext>
                  </a:extLst>
                </a:gridCol>
                <a:gridCol w="1985612">
                  <a:extLst>
                    <a:ext uri="{9D8B030D-6E8A-4147-A177-3AD203B41FA5}">
                      <a16:colId xmlns:a16="http://schemas.microsoft.com/office/drawing/2014/main" val="1557961867"/>
                    </a:ext>
                  </a:extLst>
                </a:gridCol>
                <a:gridCol w="1796505">
                  <a:extLst>
                    <a:ext uri="{9D8B030D-6E8A-4147-A177-3AD203B41FA5}">
                      <a16:colId xmlns:a16="http://schemas.microsoft.com/office/drawing/2014/main" val="285910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HEG / </a:t>
                      </a:r>
                      <a:r>
                        <a:rPr lang="en-US" sz="2000" dirty="0" err="1"/>
                        <a:t>fNIRS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fMRI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301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Wearable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Stationary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255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Low-cost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 (Millions)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486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06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2D05F-8952-9582-B242-C9CF02D3668B}"/>
              </a:ext>
            </a:extLst>
          </p:cNvPr>
          <p:cNvSpPr txBox="1"/>
          <p:nvPr/>
        </p:nvSpPr>
        <p:spPr>
          <a:xfrm>
            <a:off x="389900" y="48312"/>
            <a:ext cx="5586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Introduction and Motivation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E31F6-63D7-9D9C-5BF8-8CC3EC372084}"/>
              </a:ext>
            </a:extLst>
          </p:cNvPr>
          <p:cNvSpPr txBox="1"/>
          <p:nvPr/>
        </p:nvSpPr>
        <p:spPr>
          <a:xfrm>
            <a:off x="333828" y="670956"/>
            <a:ext cx="117202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b="1" i="0" u="none" strike="noStrike" dirty="0">
                <a:effectLst/>
                <a:latin typeface="Aptos Display (Headings)"/>
              </a:rPr>
              <a:t>Environment &amp; Motion Artifacts</a:t>
            </a:r>
          </a:p>
          <a:p>
            <a:pPr rtl="0">
              <a:buNone/>
            </a:pPr>
            <a:endParaRPr lang="en-US" sz="2400" dirty="0">
              <a:latin typeface="Aptos Display (Headings)"/>
            </a:endParaRPr>
          </a:p>
          <a:p>
            <a:pPr rtl="0">
              <a:buNone/>
            </a:pPr>
            <a:r>
              <a:rPr lang="en-US" sz="2400" dirty="0">
                <a:latin typeface="Aptos Display (Headings)"/>
              </a:rPr>
              <a:t>Raw HEG signals from Analog Front-End (AFE) are fragile. Accuracy is compromised by:</a:t>
            </a:r>
          </a:p>
          <a:p>
            <a:pPr marL="292100" indent="-29210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Motion Artifacts (MA):</a:t>
            </a:r>
            <a:r>
              <a:rPr lang="en-US" sz="2400" dirty="0">
                <a:latin typeface="Aptos Display (Headings)"/>
              </a:rPr>
              <a:t> Physical movement shifting sensor-skin coupling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Light Leaking:</a:t>
            </a:r>
            <a:r>
              <a:rPr lang="en-US" sz="2400" dirty="0">
                <a:latin typeface="Aptos Display (Headings)"/>
              </a:rPr>
              <a:t> Ambient light saturating the photodetector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High Amplitude Noise:</a:t>
            </a:r>
            <a:r>
              <a:rPr lang="en-US" sz="2400" dirty="0">
                <a:latin typeface="Aptos Display (Headings)"/>
              </a:rPr>
              <a:t> Spikes exceeding signal magnitude by 100x</a:t>
            </a:r>
            <a:endParaRPr lang="en-US" dirty="0">
              <a:latin typeface="Aptos Display (Headings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64720-0786-3F31-A623-A4BC2EAE7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29" y="3008308"/>
            <a:ext cx="6959434" cy="374906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2AA15E-DD79-267E-37EF-06E089EBC1F4}"/>
              </a:ext>
            </a:extLst>
          </p:cNvPr>
          <p:cNvCxnSpPr>
            <a:cxnSpLocks/>
          </p:cNvCxnSpPr>
          <p:nvPr/>
        </p:nvCxnSpPr>
        <p:spPr>
          <a:xfrm flipH="1" flipV="1">
            <a:off x="5511800" y="4305300"/>
            <a:ext cx="831850" cy="428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3813EF-3566-C543-DEF1-CA194BFE582D}"/>
              </a:ext>
            </a:extLst>
          </p:cNvPr>
          <p:cNvSpPr txBox="1"/>
          <p:nvPr/>
        </p:nvSpPr>
        <p:spPr>
          <a:xfrm>
            <a:off x="6096000" y="4733472"/>
            <a:ext cx="2563459" cy="369332"/>
          </a:xfrm>
          <a:prstGeom prst="rect">
            <a:avLst/>
          </a:prstGeom>
          <a:solidFill>
            <a:schemeClr val="bg2">
              <a:alpha val="24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Light Amplitude Change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845408-8666-90E2-1AB9-8A8466B07FD1}"/>
              </a:ext>
            </a:extLst>
          </p:cNvPr>
          <p:cNvCxnSpPr>
            <a:cxnSpLocks/>
          </p:cNvCxnSpPr>
          <p:nvPr/>
        </p:nvCxnSpPr>
        <p:spPr>
          <a:xfrm flipH="1" flipV="1">
            <a:off x="7198959" y="4146550"/>
            <a:ext cx="605191" cy="586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9D1A0C-52CD-08D2-454B-4688B582897D}"/>
              </a:ext>
            </a:extLst>
          </p:cNvPr>
          <p:cNvCxnSpPr>
            <a:cxnSpLocks/>
          </p:cNvCxnSpPr>
          <p:nvPr/>
        </p:nvCxnSpPr>
        <p:spPr>
          <a:xfrm>
            <a:off x="6521450" y="5102804"/>
            <a:ext cx="0" cy="285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DDA7AF-5181-E292-E582-45FB48FEC16A}"/>
              </a:ext>
            </a:extLst>
          </p:cNvPr>
          <p:cNvCxnSpPr>
            <a:cxnSpLocks/>
          </p:cNvCxnSpPr>
          <p:nvPr/>
        </p:nvCxnSpPr>
        <p:spPr>
          <a:xfrm>
            <a:off x="7848600" y="5030232"/>
            <a:ext cx="44450" cy="53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9A4924A-A78B-FABC-30CE-9214A9C3A0D3}"/>
              </a:ext>
            </a:extLst>
          </p:cNvPr>
          <p:cNvCxnSpPr>
            <a:cxnSpLocks/>
          </p:cNvCxnSpPr>
          <p:nvPr/>
        </p:nvCxnSpPr>
        <p:spPr>
          <a:xfrm flipH="1">
            <a:off x="8032750" y="5066518"/>
            <a:ext cx="221279" cy="1016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DA9F1FC-9D69-86E1-7EC7-07B77B9B52E4}"/>
              </a:ext>
            </a:extLst>
          </p:cNvPr>
          <p:cNvSpPr txBox="1"/>
          <p:nvPr/>
        </p:nvSpPr>
        <p:spPr>
          <a:xfrm>
            <a:off x="2467010" y="3414236"/>
            <a:ext cx="1182311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50E0E"/>
                </a:solidFill>
              </a:rPr>
              <a:t>740 nm</a:t>
            </a:r>
          </a:p>
          <a:p>
            <a:r>
              <a:rPr lang="en-US" sz="1400" dirty="0">
                <a:solidFill>
                  <a:srgbClr val="0000FF"/>
                </a:solidFill>
              </a:rPr>
              <a:t>860 nm</a:t>
            </a:r>
          </a:p>
          <a:p>
            <a:r>
              <a:rPr lang="en-US" sz="1400" dirty="0">
                <a:solidFill>
                  <a:srgbClr val="19EE19"/>
                </a:solidFill>
              </a:rPr>
              <a:t>Dark Current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EF4122-BF03-B7E3-5852-68BBD723B449}"/>
              </a:ext>
            </a:extLst>
          </p:cNvPr>
          <p:cNvCxnSpPr/>
          <p:nvPr/>
        </p:nvCxnSpPr>
        <p:spPr>
          <a:xfrm flipH="1">
            <a:off x="4038600" y="4733472"/>
            <a:ext cx="482600" cy="296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D88FCF1-2338-C2B5-CDE2-44F6A33DFCC2}"/>
              </a:ext>
            </a:extLst>
          </p:cNvPr>
          <p:cNvSpPr txBox="1"/>
          <p:nvPr/>
        </p:nvSpPr>
        <p:spPr>
          <a:xfrm>
            <a:off x="4521200" y="4534292"/>
            <a:ext cx="877163" cy="369332"/>
          </a:xfrm>
          <a:prstGeom prst="rect">
            <a:avLst/>
          </a:prstGeom>
          <a:solidFill>
            <a:schemeClr val="bg2">
              <a:alpha val="24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Motion</a:t>
            </a:r>
          </a:p>
        </p:txBody>
      </p:sp>
    </p:spTree>
    <p:extLst>
      <p:ext uri="{BB962C8B-B14F-4D97-AF65-F5344CB8AC3E}">
        <p14:creationId xmlns:p14="http://schemas.microsoft.com/office/powerpoint/2010/main" val="176336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0F5DA0-887A-7385-DE73-575162CCF15E}"/>
              </a:ext>
            </a:extLst>
          </p:cNvPr>
          <p:cNvSpPr txBox="1"/>
          <p:nvPr/>
        </p:nvSpPr>
        <p:spPr>
          <a:xfrm>
            <a:off x="389900" y="48312"/>
            <a:ext cx="5586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Introduction and Motivation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5AADA-CC2D-0A94-FEB6-4CA4575EA17B}"/>
              </a:ext>
            </a:extLst>
          </p:cNvPr>
          <p:cNvSpPr txBox="1"/>
          <p:nvPr/>
        </p:nvSpPr>
        <p:spPr>
          <a:xfrm>
            <a:off x="333828" y="239156"/>
            <a:ext cx="11720286" cy="6133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ptos Display (Headings)"/>
            </a:endParaRP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Spectral Overlap: </a:t>
            </a:r>
            <a:r>
              <a:rPr lang="en-US" sz="2400" dirty="0">
                <a:latin typeface="Aptos Display (Headings)"/>
              </a:rPr>
              <a:t>Motion artifacts often occur in 0.1 – 0.5 Hz (Same as the signal).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Non-Linearity:</a:t>
            </a:r>
            <a:r>
              <a:rPr lang="en-US" sz="2400" dirty="0">
                <a:latin typeface="Aptos Display (Headings)"/>
              </a:rPr>
              <a:t> Non-linear, transient spikes. 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Real-Time Need:</a:t>
            </a:r>
            <a:r>
              <a:rPr lang="en-US" sz="2400" dirty="0">
                <a:latin typeface="Aptos Display (Headings)"/>
              </a:rPr>
              <a:t> Sub-second latency is required for</a:t>
            </a:r>
            <a:br>
              <a:rPr lang="en-US" sz="2400" dirty="0">
                <a:latin typeface="Aptos Display (Headings)"/>
              </a:rPr>
            </a:br>
            <a:r>
              <a:rPr lang="en-US" sz="2400" dirty="0">
                <a:latin typeface="Aptos Display (Headings)"/>
              </a:rPr>
              <a:t>neurofeedback.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ptos Display (Headings)"/>
            </a:endParaRP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Aptos Display (Headings)"/>
              </a:rPr>
              <a:t>Deep Denoising:</a:t>
            </a:r>
            <a:r>
              <a:rPr lang="en-US" sz="2400" b="1" dirty="0">
                <a:latin typeface="Aptos Display (Headings)"/>
              </a:rPr>
              <a:t> </a:t>
            </a:r>
            <a:r>
              <a:rPr lang="en-US" sz="2400" dirty="0">
                <a:latin typeface="Aptos Display (Headings)"/>
              </a:rPr>
              <a:t>Training Micro-CNNs to reconstruct clean</a:t>
            </a:r>
            <a:br>
              <a:rPr lang="en-US" sz="2400" dirty="0">
                <a:latin typeface="Aptos Display (Headings)"/>
              </a:rPr>
            </a:br>
            <a:r>
              <a:rPr lang="en-US" sz="2400" dirty="0">
                <a:latin typeface="Aptos Display (Headings)"/>
              </a:rPr>
              <a:t>signals.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Aptos Display (Headings)"/>
              </a:rPr>
              <a:t>State Classification:</a:t>
            </a:r>
            <a:r>
              <a:rPr lang="en-US" sz="2400" b="1" dirty="0">
                <a:latin typeface="Aptos Display (Headings)"/>
              </a:rPr>
              <a:t> </a:t>
            </a:r>
            <a:r>
              <a:rPr lang="en-US" sz="2400" dirty="0">
                <a:latin typeface="Aptos Display (Headings)"/>
              </a:rPr>
              <a:t>Differentiating cognitive states: Rest vs.</a:t>
            </a:r>
            <a:br>
              <a:rPr lang="en-US" sz="2400" dirty="0">
                <a:latin typeface="Aptos Display (Headings)"/>
              </a:rPr>
            </a:br>
            <a:r>
              <a:rPr lang="en-US" sz="2400" dirty="0">
                <a:latin typeface="Aptos Display (Headings)"/>
              </a:rPr>
              <a:t>Motor Task vs. Motion.</a:t>
            </a:r>
          </a:p>
          <a:p>
            <a:pPr marL="34290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Aptos Display (Headings)"/>
              </a:rPr>
              <a:t>Edge deployment:</a:t>
            </a:r>
            <a:r>
              <a:rPr lang="en-US" sz="2400" dirty="0">
                <a:latin typeface="Aptos Display (Headings)"/>
              </a:rPr>
              <a:t> Optimizing for Nordic Axon NPU using INT8 quantization for.</a:t>
            </a:r>
          </a:p>
        </p:txBody>
      </p:sp>
      <p:pic>
        <p:nvPicPr>
          <p:cNvPr id="2050" name="Picture 2" descr="Nordic's Integrated SoC to Simplify Edge AI for Battery-Powered IoT - News">
            <a:extLst>
              <a:ext uri="{FF2B5EF4-FFF2-40B4-BE49-F238E27FC236}">
                <a16:creationId xmlns:a16="http://schemas.microsoft.com/office/drawing/2014/main" id="{EAEA9FBE-AD21-1A4D-3823-45FE836E3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931" y="1719640"/>
            <a:ext cx="3678183" cy="392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3C0374-5C51-D001-F3C2-E14CEF0304B3}"/>
              </a:ext>
            </a:extLst>
          </p:cNvPr>
          <p:cNvSpPr/>
          <p:nvPr/>
        </p:nvSpPr>
        <p:spPr>
          <a:xfrm>
            <a:off x="8540750" y="2482850"/>
            <a:ext cx="1663700" cy="939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8E7117-1BB5-49E8-30F8-AE38DF8A2D05}"/>
              </a:ext>
            </a:extLst>
          </p:cNvPr>
          <p:cNvSpPr/>
          <p:nvPr/>
        </p:nvSpPr>
        <p:spPr>
          <a:xfrm>
            <a:off x="9582150" y="3735010"/>
            <a:ext cx="2295072" cy="7099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7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D65BD1-BE41-513D-0119-D05374654703}"/>
              </a:ext>
            </a:extLst>
          </p:cNvPr>
          <p:cNvSpPr txBox="1"/>
          <p:nvPr/>
        </p:nvSpPr>
        <p:spPr>
          <a:xfrm>
            <a:off x="389900" y="48312"/>
            <a:ext cx="2058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9D5DA-316A-63AA-81DE-3E166AD28A08}"/>
              </a:ext>
            </a:extLst>
          </p:cNvPr>
          <p:cNvSpPr txBox="1"/>
          <p:nvPr/>
        </p:nvSpPr>
        <p:spPr>
          <a:xfrm>
            <a:off x="498928" y="670956"/>
            <a:ext cx="72861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b="1" i="0" u="none" strike="noStrike" dirty="0" err="1">
                <a:effectLst/>
                <a:latin typeface="Aptos Display (Headings)"/>
              </a:rPr>
              <a:t>OpenNeuro</a:t>
            </a:r>
            <a:r>
              <a:rPr lang="en-US" sz="2400" b="1" i="0" u="none" strike="noStrike" dirty="0">
                <a:effectLst/>
                <a:latin typeface="Aptos Display (Headings)"/>
              </a:rPr>
              <a:t> ds007420</a:t>
            </a:r>
          </a:p>
          <a:p>
            <a:pPr rtl="0">
              <a:buNone/>
            </a:pPr>
            <a:endParaRPr lang="en-US" sz="2400" b="1" i="0" u="none" strike="noStrike" dirty="0">
              <a:effectLst/>
              <a:latin typeface="Aptos Display (Headings)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Motor Task: </a:t>
            </a:r>
            <a:r>
              <a:rPr lang="en-US" sz="2400" dirty="0">
                <a:latin typeface="Aptos Display (Headings)"/>
              </a:rPr>
              <a:t>Purposeful ball-squeezing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effectLst/>
                <a:latin typeface="Aptos Display (Headings)"/>
              </a:rPr>
              <a:t>Artifacts: </a:t>
            </a:r>
            <a:r>
              <a:rPr lang="en-US" sz="2400" i="0" u="none" strike="noStrike" dirty="0">
                <a:effectLst/>
                <a:latin typeface="Aptos Display (Headings)"/>
              </a:rPr>
              <a:t>Annotated head and body movements.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Display (Headings)"/>
              </a:rPr>
              <a:t>Scale: </a:t>
            </a:r>
            <a:r>
              <a:rPr lang="en-US" sz="2400" dirty="0">
                <a:latin typeface="Aptos Display (Headings)"/>
              </a:rPr>
              <a:t>12 participants across 3 experimental sessions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en-US" sz="2400" i="0" u="none" strike="noStrike" dirty="0">
              <a:effectLst/>
              <a:latin typeface="Aptos Display (Headings)"/>
            </a:endParaRPr>
          </a:p>
          <a:p>
            <a:pPr rtl="0"/>
            <a:r>
              <a:rPr lang="en-US" sz="2400" i="0" u="none" strike="noStrike" dirty="0">
                <a:effectLst/>
                <a:latin typeface="Aptos Display (Headings)"/>
              </a:rPr>
              <a:t>Ground truth for </a:t>
            </a:r>
            <a:r>
              <a:rPr lang="en-US" sz="2400" dirty="0">
                <a:latin typeface="Aptos Display (Headings)"/>
              </a:rPr>
              <a:t>“Active” vs “Artifact” states.</a:t>
            </a:r>
            <a:endParaRPr lang="en-US" sz="2400" i="0" u="none" strike="noStrike" dirty="0">
              <a:effectLst/>
              <a:latin typeface="Aptos Display (Headings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02F87E-F44B-4323-4D5A-F2124CF7F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590" b="6689"/>
          <a:stretch>
            <a:fillRect/>
          </a:stretch>
        </p:blipFill>
        <p:spPr>
          <a:xfrm>
            <a:off x="7823200" y="673182"/>
            <a:ext cx="2808514" cy="2755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2B0952-FD26-F790-2C02-880070E28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14"/>
          <a:stretch>
            <a:fillRect/>
          </a:stretch>
        </p:blipFill>
        <p:spPr>
          <a:xfrm>
            <a:off x="7511143" y="3660669"/>
            <a:ext cx="4110456" cy="2460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277EF4-12A9-5D9F-5CAA-D7C40ED27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22" y="3443968"/>
            <a:ext cx="5018335" cy="32291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01E1B3-43E4-D8FF-E255-1133D1A187C5}"/>
              </a:ext>
            </a:extLst>
          </p:cNvPr>
          <p:cNvSpPr/>
          <p:nvPr/>
        </p:nvSpPr>
        <p:spPr>
          <a:xfrm>
            <a:off x="7148287" y="5450763"/>
            <a:ext cx="849085" cy="670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16EBD0-E475-FA99-3D3C-2A4EE0848D2A}"/>
              </a:ext>
            </a:extLst>
          </p:cNvPr>
          <p:cNvSpPr/>
          <p:nvPr/>
        </p:nvSpPr>
        <p:spPr>
          <a:xfrm>
            <a:off x="10043553" y="441513"/>
            <a:ext cx="849085" cy="670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5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DCDF33-4510-4015-3406-856CFFF49A15}"/>
              </a:ext>
            </a:extLst>
          </p:cNvPr>
          <p:cNvSpPr txBox="1"/>
          <p:nvPr/>
        </p:nvSpPr>
        <p:spPr>
          <a:xfrm>
            <a:off x="389900" y="48312"/>
            <a:ext cx="2068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Classifier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9E4F7-F691-8231-5801-B7D90A5A62EC}"/>
              </a:ext>
            </a:extLst>
          </p:cNvPr>
          <p:cNvSpPr txBox="1"/>
          <p:nvPr/>
        </p:nvSpPr>
        <p:spPr>
          <a:xfrm>
            <a:off x="389900" y="589868"/>
            <a:ext cx="86092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121 samples (12 seconds)</a:t>
            </a:r>
          </a:p>
          <a:p>
            <a:r>
              <a:rPr lang="en-US" sz="2400" dirty="0"/>
              <a:t>200 inputs</a:t>
            </a:r>
          </a:p>
          <a:p>
            <a:r>
              <a:rPr lang="en-US" sz="2400" dirty="0">
                <a:latin typeface="Aptos Display (Headings)"/>
              </a:rPr>
              <a:t>Hardware NPUs are optimized for 2D images.</a:t>
            </a:r>
          </a:p>
          <a:p>
            <a:r>
              <a:rPr lang="en-US" sz="2400" dirty="0">
                <a:latin typeface="Aptos Display (Headings)"/>
              </a:rPr>
              <a:t>To maximize throughput on the Axon NPU,1D signals were reshaped.</a:t>
            </a: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701D94-CBB8-DCED-68F8-A61938181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356" r="62131" b="-1"/>
          <a:stretch>
            <a:fillRect/>
          </a:stretch>
        </p:blipFill>
        <p:spPr>
          <a:xfrm>
            <a:off x="791020" y="1973409"/>
            <a:ext cx="10589342" cy="1715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989A7-68C0-A01D-BBC1-E51069FA3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00" r="24169"/>
          <a:stretch>
            <a:fillRect/>
          </a:stretch>
        </p:blipFill>
        <p:spPr>
          <a:xfrm>
            <a:off x="791020" y="3688839"/>
            <a:ext cx="10438956" cy="1554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7D09AD-8375-F51F-F0AC-26F0DA10B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79"/>
          <a:stretch>
            <a:fillRect/>
          </a:stretch>
        </p:blipFill>
        <p:spPr>
          <a:xfrm>
            <a:off x="2777794" y="5255937"/>
            <a:ext cx="6465408" cy="15544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8C0B94-ED11-A38E-1D8F-2DE0F3966CC1}"/>
              </a:ext>
            </a:extLst>
          </p:cNvPr>
          <p:cNvCxnSpPr>
            <a:stCxn id="7" idx="1"/>
          </p:cNvCxnSpPr>
          <p:nvPr/>
        </p:nvCxnSpPr>
        <p:spPr>
          <a:xfrm flipH="1">
            <a:off x="585078" y="4466058"/>
            <a:ext cx="205942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1E5B53-8225-F039-D82F-47A024BC83F0}"/>
              </a:ext>
            </a:extLst>
          </p:cNvPr>
          <p:cNvCxnSpPr>
            <a:cxnSpLocks/>
          </p:cNvCxnSpPr>
          <p:nvPr/>
        </p:nvCxnSpPr>
        <p:spPr>
          <a:xfrm>
            <a:off x="11380362" y="2894624"/>
            <a:ext cx="0" cy="794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41EC5F-145C-30E5-95C2-ECA676ECE4FB}"/>
              </a:ext>
            </a:extLst>
          </p:cNvPr>
          <p:cNvCxnSpPr/>
          <p:nvPr/>
        </p:nvCxnSpPr>
        <p:spPr>
          <a:xfrm flipV="1">
            <a:off x="571500" y="3688839"/>
            <a:ext cx="0" cy="7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809D5D-C0FE-9322-AD58-0628A8A52ED3}"/>
              </a:ext>
            </a:extLst>
          </p:cNvPr>
          <p:cNvCxnSpPr/>
          <p:nvPr/>
        </p:nvCxnSpPr>
        <p:spPr>
          <a:xfrm>
            <a:off x="585078" y="3688839"/>
            <a:ext cx="107952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C84064-148A-2ECC-6EC5-ED5992A8ABE7}"/>
              </a:ext>
            </a:extLst>
          </p:cNvPr>
          <p:cNvCxnSpPr/>
          <p:nvPr/>
        </p:nvCxnSpPr>
        <p:spPr>
          <a:xfrm flipV="1">
            <a:off x="11380362" y="4464891"/>
            <a:ext cx="0" cy="7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5C14CE-40AE-06C5-2BE3-BE7341BDDFCD}"/>
              </a:ext>
            </a:extLst>
          </p:cNvPr>
          <p:cNvCxnSpPr>
            <a:cxnSpLocks/>
          </p:cNvCxnSpPr>
          <p:nvPr/>
        </p:nvCxnSpPr>
        <p:spPr>
          <a:xfrm>
            <a:off x="11229976" y="4464891"/>
            <a:ext cx="1503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5C9130-B8BA-7649-0FED-1065E7468E6B}"/>
              </a:ext>
            </a:extLst>
          </p:cNvPr>
          <p:cNvCxnSpPr>
            <a:cxnSpLocks/>
          </p:cNvCxnSpPr>
          <p:nvPr/>
        </p:nvCxnSpPr>
        <p:spPr>
          <a:xfrm>
            <a:off x="2514600" y="5243277"/>
            <a:ext cx="88657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1B5801-0707-7273-A64F-E31AE7E976AE}"/>
              </a:ext>
            </a:extLst>
          </p:cNvPr>
          <p:cNvCxnSpPr/>
          <p:nvPr/>
        </p:nvCxnSpPr>
        <p:spPr>
          <a:xfrm flipV="1">
            <a:off x="2514600" y="5243277"/>
            <a:ext cx="0" cy="7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4532BA1-3B89-85E8-C861-A1BE377CD0C0}"/>
              </a:ext>
            </a:extLst>
          </p:cNvPr>
          <p:cNvCxnSpPr>
            <a:cxnSpLocks/>
          </p:cNvCxnSpPr>
          <p:nvPr/>
        </p:nvCxnSpPr>
        <p:spPr>
          <a:xfrm flipH="1">
            <a:off x="2514600" y="6010971"/>
            <a:ext cx="334020" cy="0"/>
          </a:xfrm>
          <a:prstGeom prst="line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50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47751A-62AD-DFC9-6A57-0A8A53A68E06}"/>
              </a:ext>
            </a:extLst>
          </p:cNvPr>
          <p:cNvSpPr txBox="1"/>
          <p:nvPr/>
        </p:nvSpPr>
        <p:spPr>
          <a:xfrm>
            <a:off x="389900" y="48312"/>
            <a:ext cx="2068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Classifier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897DD5-F5CF-08F3-495B-83AC93F601AB}"/>
              </a:ext>
            </a:extLst>
          </p:cNvPr>
          <p:cNvSpPr txBox="1"/>
          <p:nvPr/>
        </p:nvSpPr>
        <p:spPr>
          <a:xfrm>
            <a:off x="2084533" y="840880"/>
            <a:ext cx="2568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Float32 (Original)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66147-DAC3-BD3F-C508-C5A8FEFFDE51}"/>
              </a:ext>
            </a:extLst>
          </p:cNvPr>
          <p:cNvSpPr txBox="1"/>
          <p:nvPr/>
        </p:nvSpPr>
        <p:spPr>
          <a:xfrm>
            <a:off x="7595581" y="840879"/>
            <a:ext cx="2496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INT8 (Quantized)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B97339B-4F57-DE0F-3EDD-976555C6E7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7775" y="1409700"/>
            <a:ext cx="4141373" cy="347662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F6E5652-73D5-1FE7-3565-DB576F293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8552" y="1409700"/>
            <a:ext cx="4141373" cy="34766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5B9D0F-83F2-6AEB-91AA-0BF83E7AA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375" y="4978334"/>
            <a:ext cx="4781550" cy="16257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DBF579-97A3-1541-E028-ACFB672C9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83" y="4978334"/>
            <a:ext cx="4781550" cy="162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57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F3308E-0E52-D767-65A9-B4DC8A5EA1C2}"/>
              </a:ext>
            </a:extLst>
          </p:cNvPr>
          <p:cNvSpPr txBox="1"/>
          <p:nvPr/>
        </p:nvSpPr>
        <p:spPr>
          <a:xfrm>
            <a:off x="389900" y="666068"/>
            <a:ext cx="115027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DAE processes 200-channel </a:t>
            </a:r>
            <a:r>
              <a:rPr lang="en-US" sz="2400" dirty="0" err="1"/>
              <a:t>optode</a:t>
            </a:r>
            <a:r>
              <a:rPr lang="en-US" sz="2400" dirty="0"/>
              <a:t> data through a bottleneck compression</a:t>
            </a:r>
            <a:br>
              <a:rPr lang="en-US" sz="2400" dirty="0"/>
            </a:br>
            <a:r>
              <a:rPr lang="en-US" sz="2400" dirty="0"/>
              <a:t>to force feature extraction.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Encoder:</a:t>
            </a:r>
            <a:r>
              <a:rPr lang="en-US" sz="2400" dirty="0"/>
              <a:t> Dual Conv1D (64 filters) + MaxPool1D layers reduce 121 time-steps to 30.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Bottleneck:</a:t>
            </a:r>
            <a:r>
              <a:rPr lang="en-US" sz="2400" dirty="0"/>
              <a:t> Compressed representation rejects high-frequency stochastic noise.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Decoder:</a:t>
            </a:r>
            <a:r>
              <a:rPr lang="en-US" sz="2400" dirty="0"/>
              <a:t> Conv1DTranspose restores the temporal dimension to 121 samples.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Output:</a:t>
            </a:r>
            <a:r>
              <a:rPr lang="en-US" sz="2400" dirty="0"/>
              <a:t> A purified hemodynamic wave ready for the 1D-CNN classifier.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36961-C4CD-DB91-3B7B-B2A45EF5912E}"/>
              </a:ext>
            </a:extLst>
          </p:cNvPr>
          <p:cNvSpPr txBox="1"/>
          <p:nvPr/>
        </p:nvSpPr>
        <p:spPr>
          <a:xfrm>
            <a:off x="389900" y="48312"/>
            <a:ext cx="5071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Denoising (Autoencoder)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B340F71-D51E-5569-AB96-80FD79DAE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9800" y="2974392"/>
            <a:ext cx="71374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59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A183E7-51AC-A9AE-AEED-D94BDCA24EB7}"/>
              </a:ext>
            </a:extLst>
          </p:cNvPr>
          <p:cNvSpPr txBox="1"/>
          <p:nvPr/>
        </p:nvSpPr>
        <p:spPr>
          <a:xfrm>
            <a:off x="389900" y="48312"/>
            <a:ext cx="3840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Shape-Aware Loss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415781-2D6C-8860-7FB1-4F198BDFEF3A}"/>
                  </a:ext>
                </a:extLst>
              </p:cNvPr>
              <p:cNvSpPr txBox="1"/>
              <p:nvPr/>
            </p:nvSpPr>
            <p:spPr>
              <a:xfrm>
                <a:off x="2805630" y="1474124"/>
                <a:ext cx="6049668" cy="523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𝑳𝒐𝒔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𝑴𝑺𝑬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𝑺𝒍𝒐𝒑𝒆𝑳𝒐𝒔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𝑫𝒊𝒇𝒇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415781-2D6C-8860-7FB1-4F198BDFE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630" y="1474124"/>
                <a:ext cx="6049668" cy="5230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BBE772A-EF9E-1D53-C232-002FEB136BAC}"/>
              </a:ext>
            </a:extLst>
          </p:cNvPr>
          <p:cNvSpPr txBox="1"/>
          <p:nvPr/>
        </p:nvSpPr>
        <p:spPr>
          <a:xfrm>
            <a:off x="475625" y="2351993"/>
            <a:ext cx="1140068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8925" indent="-288925">
              <a:buFont typeface="Arial" panose="020B0604020202020204" pitchFamily="34" charset="0"/>
              <a:buChar char="•"/>
            </a:pPr>
            <a:r>
              <a:rPr lang="en-US" sz="2400" b="1" dirty="0"/>
              <a:t>Beyond MSE:</a:t>
            </a:r>
            <a:r>
              <a:rPr lang="en-US" sz="2400" dirty="0"/>
              <a:t> Traditional Mean Squared Error fails to capture temporal dynamics in</a:t>
            </a:r>
            <a:br>
              <a:rPr lang="en-US" sz="2400" dirty="0"/>
            </a:br>
            <a:r>
              <a:rPr lang="en-US" sz="2400" dirty="0"/>
              <a:t>noisy hemodynamic signals.</a:t>
            </a:r>
          </a:p>
          <a:p>
            <a:pPr marL="288925" indent="-28892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Derivative Penalty:</a:t>
            </a:r>
            <a:r>
              <a:rPr lang="en-US" sz="2400" dirty="0"/>
              <a:t> Our custom loss function penalizes differences in slopes</a:t>
            </a:r>
            <a:br>
              <a:rPr lang="en-US" sz="2400" dirty="0"/>
            </a:br>
            <a:r>
              <a:rPr lang="en-US" sz="2400" dirty="0"/>
              <a:t>between adjacent time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8925" indent="-288925">
              <a:buFont typeface="Arial" panose="020B0604020202020204" pitchFamily="34" charset="0"/>
              <a:buChar char="•"/>
            </a:pPr>
            <a:r>
              <a:rPr lang="en-US" sz="2400" b="1" dirty="0"/>
              <a:t>Fidelity Preservation:</a:t>
            </a:r>
            <a:r>
              <a:rPr lang="en-US" sz="2400" dirty="0"/>
              <a:t> Prioritizes the low-frequency hemodynamic curve over</a:t>
            </a:r>
            <a:br>
              <a:rPr lang="en-US" sz="2400" dirty="0"/>
            </a:br>
            <a:r>
              <a:rPr lang="en-US" sz="2400" dirty="0"/>
              <a:t>high-frequency stochastic noise spikes.</a:t>
            </a:r>
          </a:p>
          <a:p>
            <a:pPr marL="288925" indent="-28892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Outcome:</a:t>
            </a:r>
            <a:r>
              <a:rPr lang="en-US" sz="2400" dirty="0"/>
              <a:t> Stable reconstruction fidelity even under 50% noise injection.</a:t>
            </a:r>
          </a:p>
        </p:txBody>
      </p:sp>
    </p:spTree>
    <p:extLst>
      <p:ext uri="{BB962C8B-B14F-4D97-AF65-F5344CB8AC3E}">
        <p14:creationId xmlns:p14="http://schemas.microsoft.com/office/powerpoint/2010/main" val="296433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1F7431-E5A4-0B5D-47D9-33F87A86FF3C}"/>
              </a:ext>
            </a:extLst>
          </p:cNvPr>
          <p:cNvSpPr txBox="1"/>
          <p:nvPr/>
        </p:nvSpPr>
        <p:spPr>
          <a:xfrm>
            <a:off x="389900" y="48312"/>
            <a:ext cx="5175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Summary of Quantization</a:t>
            </a: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9848AE-AD32-B3CC-914C-E40E4D99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493" y="1148602"/>
            <a:ext cx="6577013" cy="476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8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492</Words>
  <Application>Microsoft Office PowerPoint</Application>
  <PresentationFormat>Widescreen</PresentationFormat>
  <Paragraphs>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Aptos Display (Headings)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Ramezani, Kaveh</dc:creator>
  <cp:lastModifiedBy>Ramezani, Kaveh</cp:lastModifiedBy>
  <cp:revision>94</cp:revision>
  <dcterms:created xsi:type="dcterms:W3CDTF">2026-05-06T15:45:28Z</dcterms:created>
  <dcterms:modified xsi:type="dcterms:W3CDTF">2026-05-12T16:51:25Z</dcterms:modified>
</cp:coreProperties>
</file>